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p:scale>
          <a:sx n="49" d="100"/>
          <a:sy n="49" d="100"/>
        </p:scale>
        <p:origin x="1296"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EF68014-969A-408C-BC74-4F68BF6C9787}" type="datetimeFigureOut">
              <a:rPr lang="en-IN" smtClean="0"/>
              <a:t>09-11-2023</a:t>
            </a:fld>
            <a:endParaRPr lang="en-IN"/>
          </a:p>
        </p:txBody>
      </p:sp>
      <p:sp>
        <p:nvSpPr>
          <p:cNvPr id="5" name="Footer Placeholder 4"/>
          <p:cNvSpPr>
            <a:spLocks noGrp="1"/>
          </p:cNvSpPr>
          <p:nvPr>
            <p:ph type="ftr" sz="quarter" idx="11"/>
          </p:nvPr>
        </p:nvSpPr>
        <p:spPr>
          <a:xfrm>
            <a:off x="1451579" y="329307"/>
            <a:ext cx="5626774" cy="309201"/>
          </a:xfrm>
        </p:spPr>
        <p:txBody>
          <a:bodyPr/>
          <a:lstStyle/>
          <a:p>
            <a:endParaRPr lang="en-IN"/>
          </a:p>
        </p:txBody>
      </p:sp>
      <p:sp>
        <p:nvSpPr>
          <p:cNvPr id="6" name="Slide Number Placeholder 5"/>
          <p:cNvSpPr>
            <a:spLocks noGrp="1"/>
          </p:cNvSpPr>
          <p:nvPr>
            <p:ph type="sldNum" sz="quarter" idx="12"/>
          </p:nvPr>
        </p:nvSpPr>
        <p:spPr>
          <a:xfrm>
            <a:off x="476834" y="798973"/>
            <a:ext cx="811019" cy="503578"/>
          </a:xfrm>
        </p:spPr>
        <p:txBody>
          <a:bodyPr/>
          <a:lstStyle/>
          <a:p>
            <a:fld id="{387DCA78-CFB4-4FB9-9B07-B799D78778D4}" type="slidenum">
              <a:rPr lang="en-IN" smtClean="0"/>
              <a:t>‹#›</a:t>
            </a:fld>
            <a:endParaRPr lang="en-IN"/>
          </a:p>
        </p:txBody>
      </p:sp>
    </p:spTree>
    <p:extLst>
      <p:ext uri="{BB962C8B-B14F-4D97-AF65-F5344CB8AC3E}">
        <p14:creationId xmlns:p14="http://schemas.microsoft.com/office/powerpoint/2010/main" val="21451458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F68014-969A-408C-BC74-4F68BF6C9787}" type="datetimeFigureOut">
              <a:rPr lang="en-IN" smtClean="0"/>
              <a:t>09-11-2023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DCA78-CFB4-4FB9-9B07-B799D78778D4}" type="slidenum">
              <a:rPr lang="en-IN" smtClean="0"/>
              <a:t>‹#›</a:t>
            </a:fld>
            <a:endParaRPr lang="en-IN"/>
          </a:p>
        </p:txBody>
      </p:sp>
    </p:spTree>
    <p:extLst>
      <p:ext uri="{BB962C8B-B14F-4D97-AF65-F5344CB8AC3E}">
        <p14:creationId xmlns:p14="http://schemas.microsoft.com/office/powerpoint/2010/main" val="3198536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F68014-969A-408C-BC74-4F68BF6C9787}" type="datetimeFigureOut">
              <a:rPr lang="en-IN" smtClean="0"/>
              <a:t>09-11-2023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DCA78-CFB4-4FB9-9B07-B799D78778D4}" type="slidenum">
              <a:rPr lang="en-IN" smtClean="0"/>
              <a:t>‹#›</a:t>
            </a:fld>
            <a:endParaRPr lang="en-IN"/>
          </a:p>
        </p:txBody>
      </p:sp>
    </p:spTree>
    <p:extLst>
      <p:ext uri="{BB962C8B-B14F-4D97-AF65-F5344CB8AC3E}">
        <p14:creationId xmlns:p14="http://schemas.microsoft.com/office/powerpoint/2010/main" val="1759709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F68014-969A-408C-BC74-4F68BF6C9787}" type="datetimeFigureOut">
              <a:rPr lang="en-IN" smtClean="0"/>
              <a:t>09-11-2023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DCA78-CFB4-4FB9-9B07-B799D78778D4}" type="slidenum">
              <a:rPr lang="en-IN" smtClean="0"/>
              <a:t>‹#›</a:t>
            </a:fld>
            <a:endParaRPr lang="en-IN"/>
          </a:p>
        </p:txBody>
      </p:sp>
    </p:spTree>
    <p:extLst>
      <p:ext uri="{BB962C8B-B14F-4D97-AF65-F5344CB8AC3E}">
        <p14:creationId xmlns:p14="http://schemas.microsoft.com/office/powerpoint/2010/main" val="528394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F68014-969A-408C-BC74-4F68BF6C9787}" type="datetimeFigureOut">
              <a:rPr lang="en-IN" smtClean="0"/>
              <a:t>09-11-2023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87DCA78-CFB4-4FB9-9B07-B799D78778D4}" type="slidenum">
              <a:rPr lang="en-IN" smtClean="0"/>
              <a:t>‹#›</a:t>
            </a:fld>
            <a:endParaRPr lang="en-IN"/>
          </a:p>
        </p:txBody>
      </p:sp>
    </p:spTree>
    <p:extLst>
      <p:ext uri="{BB962C8B-B14F-4D97-AF65-F5344CB8AC3E}">
        <p14:creationId xmlns:p14="http://schemas.microsoft.com/office/powerpoint/2010/main" val="9441073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F68014-969A-408C-BC74-4F68BF6C9787}" type="datetimeFigureOut">
              <a:rPr lang="en-IN" smtClean="0"/>
              <a:t>09-11-2023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87DCA78-CFB4-4FB9-9B07-B799D78778D4}" type="slidenum">
              <a:rPr lang="en-IN" smtClean="0"/>
              <a:t>‹#›</a:t>
            </a:fld>
            <a:endParaRPr lang="en-IN"/>
          </a:p>
        </p:txBody>
      </p:sp>
    </p:spTree>
    <p:extLst>
      <p:ext uri="{BB962C8B-B14F-4D97-AF65-F5344CB8AC3E}">
        <p14:creationId xmlns:p14="http://schemas.microsoft.com/office/powerpoint/2010/main" val="14240165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F68014-969A-408C-BC74-4F68BF6C9787}" type="datetimeFigureOut">
              <a:rPr lang="en-IN" smtClean="0"/>
              <a:t>09-11-2023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87DCA78-CFB4-4FB9-9B07-B799D78778D4}" type="slidenum">
              <a:rPr lang="en-IN" smtClean="0"/>
              <a:t>‹#›</a:t>
            </a:fld>
            <a:endParaRPr lang="en-IN"/>
          </a:p>
        </p:txBody>
      </p:sp>
    </p:spTree>
    <p:extLst>
      <p:ext uri="{BB962C8B-B14F-4D97-AF65-F5344CB8AC3E}">
        <p14:creationId xmlns:p14="http://schemas.microsoft.com/office/powerpoint/2010/main" val="2233732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EF68014-969A-408C-BC74-4F68BF6C9787}" type="datetimeFigureOut">
              <a:rPr lang="en-IN" smtClean="0"/>
              <a:t>09-11-2023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87DCA78-CFB4-4FB9-9B07-B799D78778D4}" type="slidenum">
              <a:rPr lang="en-IN" smtClean="0"/>
              <a:t>‹#›</a:t>
            </a:fld>
            <a:endParaRPr lang="en-IN"/>
          </a:p>
        </p:txBody>
      </p:sp>
    </p:spTree>
    <p:extLst>
      <p:ext uri="{BB962C8B-B14F-4D97-AF65-F5344CB8AC3E}">
        <p14:creationId xmlns:p14="http://schemas.microsoft.com/office/powerpoint/2010/main" val="11837070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9EF68014-969A-408C-BC74-4F68BF6C9787}" type="datetimeFigureOut">
              <a:rPr lang="en-IN" smtClean="0"/>
              <a:t>09-11-2023</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387DCA78-CFB4-4FB9-9B07-B799D78778D4}" type="slidenum">
              <a:rPr lang="en-IN" smtClean="0"/>
              <a:t>‹#›</a:t>
            </a:fld>
            <a:endParaRPr lang="en-IN"/>
          </a:p>
        </p:txBody>
      </p:sp>
    </p:spTree>
    <p:extLst>
      <p:ext uri="{BB962C8B-B14F-4D97-AF65-F5344CB8AC3E}">
        <p14:creationId xmlns:p14="http://schemas.microsoft.com/office/powerpoint/2010/main" val="3849022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F68014-969A-408C-BC74-4F68BF6C9787}" type="datetimeFigureOut">
              <a:rPr lang="en-IN" smtClean="0"/>
              <a:t>09-11-2023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DCA78-CFB4-4FB9-9B07-B799D78778D4}" type="slidenum">
              <a:rPr lang="en-IN" smtClean="0"/>
              <a:t>‹#›</a:t>
            </a:fld>
            <a:endParaRPr lang="en-IN"/>
          </a:p>
        </p:txBody>
      </p:sp>
    </p:spTree>
    <p:extLst>
      <p:ext uri="{BB962C8B-B14F-4D97-AF65-F5344CB8AC3E}">
        <p14:creationId xmlns:p14="http://schemas.microsoft.com/office/powerpoint/2010/main" val="3047022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F68014-969A-408C-BC74-4F68BF6C9787}" type="datetimeFigureOut">
              <a:rPr lang="en-IN" smtClean="0"/>
              <a:t>09-11-2023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87DCA78-CFB4-4FB9-9B07-B799D78778D4}" type="slidenum">
              <a:rPr lang="en-IN" smtClean="0"/>
              <a:t>‹#›</a:t>
            </a:fld>
            <a:endParaRPr lang="en-IN"/>
          </a:p>
        </p:txBody>
      </p:sp>
    </p:spTree>
    <p:extLst>
      <p:ext uri="{BB962C8B-B14F-4D97-AF65-F5344CB8AC3E}">
        <p14:creationId xmlns:p14="http://schemas.microsoft.com/office/powerpoint/2010/main" val="3639392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9EF68014-969A-408C-BC74-4F68BF6C9787}" type="datetimeFigureOut">
              <a:rPr lang="en-IN" smtClean="0"/>
              <a:t>09-11-2023</a:t>
            </a:fld>
            <a:endParaRPr lang="en-IN"/>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387DCA78-CFB4-4FB9-9B07-B799D78778D4}" type="slidenum">
              <a:rPr lang="en-IN" smtClean="0"/>
              <a:t>‹#›</a:t>
            </a:fld>
            <a:endParaRPr lang="en-IN"/>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0820552"/>
      </p:ext>
    </p:extLst>
  </p:cSld>
  <p:clrMap bg1="dk1" tx1="lt1" bg2="dk2"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FBC693-98CE-FFE3-4B4B-666F342874F2}"/>
              </a:ext>
            </a:extLst>
          </p:cNvPr>
          <p:cNvSpPr>
            <a:spLocks noGrp="1"/>
          </p:cNvSpPr>
          <p:nvPr>
            <p:ph type="subTitle" idx="1"/>
          </p:nvPr>
        </p:nvSpPr>
        <p:spPr>
          <a:xfrm>
            <a:off x="121445" y="282240"/>
            <a:ext cx="3700395" cy="1852400"/>
          </a:xfrm>
        </p:spPr>
        <p:txBody>
          <a:bodyPr>
            <a:noAutofit/>
          </a:bodyPr>
          <a:lstStyle/>
          <a:p>
            <a:pPr>
              <a:lnSpc>
                <a:spcPct val="110000"/>
              </a:lnSpc>
            </a:pPr>
            <a:r>
              <a:rPr lang="en-US" sz="1500" dirty="0">
                <a:latin typeface="Algerian" panose="04020705040A02060702" pitchFamily="82" charset="0"/>
              </a:rPr>
              <a:t>Statistical Analysis of Gross Sales, Profit, and Unit Sales</a:t>
            </a:r>
          </a:p>
          <a:p>
            <a:pPr>
              <a:lnSpc>
                <a:spcPct val="110000"/>
              </a:lnSpc>
            </a:pPr>
            <a:endParaRPr lang="en-US" sz="1500" dirty="0">
              <a:latin typeface="Amasis MT Pro Black" panose="02040A04050005020304" pitchFamily="18" charset="0"/>
            </a:endParaRPr>
          </a:p>
          <a:p>
            <a:pPr>
              <a:lnSpc>
                <a:spcPct val="110000"/>
              </a:lnSpc>
            </a:pPr>
            <a:r>
              <a:rPr lang="en-IN" sz="1500" dirty="0">
                <a:latin typeface="Amasis MT Pro Black" panose="02040A04050005020304" pitchFamily="18" charset="0"/>
              </a:rPr>
              <a:t>Presented to:</a:t>
            </a:r>
          </a:p>
          <a:p>
            <a:pPr>
              <a:lnSpc>
                <a:spcPct val="110000"/>
              </a:lnSpc>
            </a:pPr>
            <a:r>
              <a:rPr lang="en-IN" sz="1500" dirty="0">
                <a:latin typeface="Amasis MT Pro Black" panose="02040A04050005020304" pitchFamily="18" charset="0"/>
              </a:rPr>
              <a:t>Mr. Raghu Tiwari</a:t>
            </a:r>
          </a:p>
          <a:p>
            <a:pPr>
              <a:lnSpc>
                <a:spcPct val="110000"/>
              </a:lnSpc>
            </a:pPr>
            <a:r>
              <a:rPr lang="en-IN" sz="1500" dirty="0">
                <a:latin typeface="Amasis MT Pro Black" panose="02040A04050005020304" pitchFamily="18" charset="0"/>
              </a:rPr>
              <a:t>Course code: CSD 103</a:t>
            </a:r>
          </a:p>
          <a:p>
            <a:pPr>
              <a:lnSpc>
                <a:spcPct val="110000"/>
              </a:lnSpc>
            </a:pPr>
            <a:r>
              <a:rPr lang="en-IN" sz="1500" dirty="0">
                <a:latin typeface="Amasis MT Pro Black" panose="02040A04050005020304" pitchFamily="18" charset="0"/>
              </a:rPr>
              <a:t> Presented by:	Section: RK22GT</a:t>
            </a:r>
          </a:p>
        </p:txBody>
      </p:sp>
      <p:pic>
        <p:nvPicPr>
          <p:cNvPr id="1028" name="Picture 4" descr="Lpu Campus, Counselling And Admission Offices">
            <a:extLst>
              <a:ext uri="{FF2B5EF4-FFF2-40B4-BE49-F238E27FC236}">
                <a16:creationId xmlns:a16="http://schemas.microsoft.com/office/drawing/2014/main" id="{5A32ECA2-5A5D-949B-DC61-D425AAE8E1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981" r="-1" b="5272"/>
          <a:stretch/>
        </p:blipFill>
        <p:spPr bwMode="auto">
          <a:xfrm>
            <a:off x="4462110" y="962478"/>
            <a:ext cx="2727139" cy="153785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185 Business Analysis Techniques: The Complete List (2022)">
            <a:extLst>
              <a:ext uri="{FF2B5EF4-FFF2-40B4-BE49-F238E27FC236}">
                <a16:creationId xmlns:a16="http://schemas.microsoft.com/office/drawing/2014/main" id="{6217E3F0-E8C8-56C1-D9C9-E69F3C393B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997" r="-1" b="-1"/>
          <a:stretch/>
        </p:blipFill>
        <p:spPr bwMode="auto">
          <a:xfrm>
            <a:off x="4455432" y="3612582"/>
            <a:ext cx="2737785" cy="15357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94CD96B-ADF5-ED71-EF5A-09BF4F4C2BF0}"/>
              </a:ext>
            </a:extLst>
          </p:cNvPr>
          <p:cNvPicPr>
            <a:picLocks noChangeAspect="1"/>
          </p:cNvPicPr>
          <p:nvPr/>
        </p:nvPicPr>
        <p:blipFill rotWithShape="1">
          <a:blip r:embed="rId4"/>
          <a:srcRect l="29988" r="19239" b="-1"/>
          <a:stretch/>
        </p:blipFill>
        <p:spPr>
          <a:xfrm>
            <a:off x="8327453" y="963718"/>
            <a:ext cx="2736279" cy="4184577"/>
          </a:xfrm>
          <a:prstGeom prst="rect">
            <a:avLst/>
          </a:prstGeom>
        </p:spPr>
      </p:pic>
      <p:sp>
        <p:nvSpPr>
          <p:cNvPr id="2" name="TextBox 1">
            <a:extLst>
              <a:ext uri="{FF2B5EF4-FFF2-40B4-BE49-F238E27FC236}">
                <a16:creationId xmlns:a16="http://schemas.microsoft.com/office/drawing/2014/main" id="{75274639-CF3B-D1DA-E6B0-74C1C5A5DFDB}"/>
              </a:ext>
            </a:extLst>
          </p:cNvPr>
          <p:cNvSpPr txBox="1"/>
          <p:nvPr/>
        </p:nvSpPr>
        <p:spPr>
          <a:xfrm>
            <a:off x="211757" y="3744227"/>
            <a:ext cx="3447432" cy="1290097"/>
          </a:xfrm>
          <a:prstGeom prst="rect">
            <a:avLst/>
          </a:prstGeom>
          <a:noFill/>
        </p:spPr>
        <p:txBody>
          <a:bodyPr wrap="square" rtlCol="0">
            <a:spAutoFit/>
          </a:bodyPr>
          <a:lstStyle/>
          <a:p>
            <a:pPr>
              <a:lnSpc>
                <a:spcPct val="110000"/>
              </a:lnSpc>
            </a:pPr>
            <a:r>
              <a:rPr lang="en-IN" sz="1800" dirty="0">
                <a:latin typeface="Amasis MT Pro Black" panose="02040A04050005020304" pitchFamily="18" charset="0"/>
              </a:rPr>
              <a:t> Simran- 12208485</a:t>
            </a:r>
          </a:p>
          <a:p>
            <a:pPr>
              <a:lnSpc>
                <a:spcPct val="110000"/>
              </a:lnSpc>
            </a:pPr>
            <a:r>
              <a:rPr lang="en-IN" sz="1800" dirty="0">
                <a:latin typeface="Amasis MT Pro Black" panose="02040A04050005020304" pitchFamily="18" charset="0"/>
              </a:rPr>
              <a:t> Ankita Toppo- 12213031</a:t>
            </a:r>
          </a:p>
          <a:p>
            <a:pPr>
              <a:lnSpc>
                <a:spcPct val="110000"/>
              </a:lnSpc>
            </a:pPr>
            <a:r>
              <a:rPr lang="en-IN" sz="1800" dirty="0">
                <a:latin typeface="Amasis MT Pro Black" panose="02040A04050005020304" pitchFamily="18" charset="0"/>
              </a:rPr>
              <a:t> Abhinav Singh- 12207267</a:t>
            </a:r>
          </a:p>
          <a:p>
            <a:pPr>
              <a:lnSpc>
                <a:spcPct val="110000"/>
              </a:lnSpc>
            </a:pPr>
            <a:r>
              <a:rPr lang="en-IN" sz="1800" dirty="0">
                <a:latin typeface="Amasis MT Pro Black" panose="02040A04050005020304" pitchFamily="18" charset="0"/>
              </a:rPr>
              <a:t>  </a:t>
            </a:r>
            <a:r>
              <a:rPr lang="en-IN" sz="1800" dirty="0" err="1">
                <a:latin typeface="Amasis MT Pro Black" panose="02040A04050005020304" pitchFamily="18" charset="0"/>
              </a:rPr>
              <a:t>Subhayan</a:t>
            </a:r>
            <a:r>
              <a:rPr lang="en-IN" sz="1800" dirty="0">
                <a:latin typeface="Amasis MT Pro Black" panose="02040A04050005020304" pitchFamily="18" charset="0"/>
              </a:rPr>
              <a:t> Patra- 12222609</a:t>
            </a:r>
            <a:endParaRPr lang="en-US" dirty="0"/>
          </a:p>
        </p:txBody>
      </p:sp>
    </p:spTree>
    <p:extLst>
      <p:ext uri="{BB962C8B-B14F-4D97-AF65-F5344CB8AC3E}">
        <p14:creationId xmlns:p14="http://schemas.microsoft.com/office/powerpoint/2010/main" val="3486390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500"/>
                                  </p:stCondLst>
                                  <p:iterate>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7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1500"/>
                                  </p:stCondLst>
                                  <p:iterate>
                                    <p:tmPct val="10000"/>
                                  </p:iterate>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7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1500"/>
                                  </p:stCondLst>
                                  <p:iterate>
                                    <p:tmPct val="10000"/>
                                  </p:iterate>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7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1500"/>
                                  </p:stCondLst>
                                  <p:iterate>
                                    <p:tmPct val="10000"/>
                                  </p:iterate>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7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1500"/>
                                  </p:stCondLst>
                                  <p:iterate>
                                    <p:tmPct val="10000"/>
                                  </p:iterate>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7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C2E96-F8BC-CD8C-F4D9-610F47E2895C}"/>
              </a:ext>
            </a:extLst>
          </p:cNvPr>
          <p:cNvSpPr>
            <a:spLocks noGrp="1"/>
          </p:cNvSpPr>
          <p:nvPr>
            <p:ph type="ctrTitle"/>
          </p:nvPr>
        </p:nvSpPr>
        <p:spPr>
          <a:xfrm>
            <a:off x="5078896" y="643468"/>
            <a:ext cx="5975956" cy="1720910"/>
          </a:xfrm>
        </p:spPr>
        <p:txBody>
          <a:bodyPr anchor="ctr">
            <a:normAutofit/>
          </a:bodyPr>
          <a:lstStyle/>
          <a:p>
            <a:r>
              <a:rPr lang="en-US" sz="4800" dirty="0">
                <a:latin typeface="Abadi" panose="020B0604020202020204" pitchFamily="34" charset="0"/>
              </a:rPr>
              <a:t>Data Sampling</a:t>
            </a:r>
            <a:endParaRPr lang="en-IN" sz="4800" dirty="0">
              <a:latin typeface="Abadi" panose="020B0604020202020204" pitchFamily="34" charset="0"/>
            </a:endParaRPr>
          </a:p>
        </p:txBody>
      </p:sp>
      <p:sp>
        <p:nvSpPr>
          <p:cNvPr id="3" name="Subtitle 2">
            <a:extLst>
              <a:ext uri="{FF2B5EF4-FFF2-40B4-BE49-F238E27FC236}">
                <a16:creationId xmlns:a16="http://schemas.microsoft.com/office/drawing/2014/main" id="{CD6A5B21-0E00-9131-5C52-F8CF045D8703}"/>
              </a:ext>
            </a:extLst>
          </p:cNvPr>
          <p:cNvSpPr>
            <a:spLocks noGrp="1"/>
          </p:cNvSpPr>
          <p:nvPr>
            <p:ph type="subTitle" idx="1"/>
          </p:nvPr>
        </p:nvSpPr>
        <p:spPr>
          <a:xfrm>
            <a:off x="5078895" y="2024743"/>
            <a:ext cx="6860555" cy="4071110"/>
          </a:xfrm>
        </p:spPr>
        <p:txBody>
          <a:bodyPr>
            <a:noAutofit/>
          </a:bodyPr>
          <a:lstStyle/>
          <a:p>
            <a:pPr>
              <a:lnSpc>
                <a:spcPct val="110000"/>
              </a:lnSpc>
            </a:pPr>
            <a:r>
              <a:rPr lang="en-US" sz="1900" b="0" i="0" dirty="0">
                <a:solidFill>
                  <a:srgbClr val="FFFFFF"/>
                </a:solidFill>
                <a:effectLst/>
                <a:latin typeface="Google Sans"/>
              </a:rPr>
              <a:t>Data sampling is a statistical analysis technique used to select, manipulate and analyze a representative subset of data points to identify patterns and trends in the larger data set being examined..</a:t>
            </a:r>
          </a:p>
          <a:p>
            <a:pPr>
              <a:lnSpc>
                <a:spcPct val="110000"/>
              </a:lnSpc>
            </a:pPr>
            <a:r>
              <a:rPr lang="en-IN" sz="1900" dirty="0">
                <a:solidFill>
                  <a:srgbClr val="FFFFFF"/>
                </a:solidFill>
                <a:latin typeface="Abadi" panose="020B0604020104020204" pitchFamily="34" charset="0"/>
              </a:rPr>
              <a:t>Statistical Analysis</a:t>
            </a:r>
          </a:p>
          <a:p>
            <a:pPr>
              <a:lnSpc>
                <a:spcPct val="110000"/>
              </a:lnSpc>
            </a:pPr>
            <a:r>
              <a:rPr lang="en-US" sz="1900" b="0" i="0" dirty="0">
                <a:solidFill>
                  <a:srgbClr val="FFFFFF"/>
                </a:solidFill>
                <a:effectLst/>
                <a:latin typeface="Google Sans"/>
              </a:rPr>
              <a:t>It is a method of collecting and summarizing the data. This has many applications from a small scale to large scale. Whether it is the study of the population of the country or its economy, stats are used for all such data analysis.</a:t>
            </a:r>
            <a:endParaRPr lang="en-IN" sz="1900" dirty="0">
              <a:solidFill>
                <a:srgbClr val="FFFFFF"/>
              </a:solidFill>
              <a:latin typeface="Abadi" panose="020B0604020104020204" pitchFamily="34" charset="0"/>
            </a:endParaRPr>
          </a:p>
        </p:txBody>
      </p:sp>
      <p:pic>
        <p:nvPicPr>
          <p:cNvPr id="5" name="Picture 4" descr="Pipette adding DNA sample to a petri dish">
            <a:extLst>
              <a:ext uri="{FF2B5EF4-FFF2-40B4-BE49-F238E27FC236}">
                <a16:creationId xmlns:a16="http://schemas.microsoft.com/office/drawing/2014/main" id="{A1BB66F0-3FC7-0C8D-FF4B-64C1B2B49683}"/>
              </a:ext>
            </a:extLst>
          </p:cNvPr>
          <p:cNvPicPr>
            <a:picLocks noChangeAspect="1"/>
          </p:cNvPicPr>
          <p:nvPr/>
        </p:nvPicPr>
        <p:blipFill rotWithShape="1">
          <a:blip r:embed="rId2"/>
          <a:srcRect l="12776" r="36359"/>
          <a:stretch/>
        </p:blipFill>
        <p:spPr>
          <a:xfrm>
            <a:off x="3179" y="-2"/>
            <a:ext cx="4651117" cy="6858002"/>
          </a:xfrm>
          <a:prstGeom prst="rect">
            <a:avLst/>
          </a:prstGeom>
        </p:spPr>
      </p:pic>
    </p:spTree>
    <p:extLst>
      <p:ext uri="{BB962C8B-B14F-4D97-AF65-F5344CB8AC3E}">
        <p14:creationId xmlns:p14="http://schemas.microsoft.com/office/powerpoint/2010/main" val="926353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CC494-D770-9A4B-D00B-71C0FBE53B23}"/>
              </a:ext>
            </a:extLst>
          </p:cNvPr>
          <p:cNvSpPr>
            <a:spLocks noGrp="1"/>
          </p:cNvSpPr>
          <p:nvPr>
            <p:ph type="ctrTitle"/>
          </p:nvPr>
        </p:nvSpPr>
        <p:spPr>
          <a:xfrm>
            <a:off x="1524000" y="26853"/>
            <a:ext cx="9144000" cy="1120505"/>
          </a:xfrm>
        </p:spPr>
        <p:txBody>
          <a:bodyPr>
            <a:normAutofit/>
          </a:bodyPr>
          <a:lstStyle/>
          <a:p>
            <a:r>
              <a:rPr lang="en-US" sz="4400" dirty="0">
                <a:solidFill>
                  <a:srgbClr val="FF0000"/>
                </a:solidFill>
                <a:latin typeface="Algerian" panose="04020705040A02060702" pitchFamily="82" charset="0"/>
              </a:rPr>
              <a:t>INTRODUCTION</a:t>
            </a:r>
            <a:endParaRPr lang="en-IN" sz="4400" dirty="0">
              <a:solidFill>
                <a:srgbClr val="FF0000"/>
              </a:solidFill>
              <a:latin typeface="Algerian" panose="04020705040A02060702" pitchFamily="82" charset="0"/>
            </a:endParaRPr>
          </a:p>
        </p:txBody>
      </p:sp>
      <p:sp>
        <p:nvSpPr>
          <p:cNvPr id="3" name="Subtitle 2">
            <a:extLst>
              <a:ext uri="{FF2B5EF4-FFF2-40B4-BE49-F238E27FC236}">
                <a16:creationId xmlns:a16="http://schemas.microsoft.com/office/drawing/2014/main" id="{C71D1636-B8D8-6A49-953F-516E86E580FF}"/>
              </a:ext>
            </a:extLst>
          </p:cNvPr>
          <p:cNvSpPr>
            <a:spLocks noGrp="1"/>
          </p:cNvSpPr>
          <p:nvPr>
            <p:ph type="subTitle" idx="1"/>
          </p:nvPr>
        </p:nvSpPr>
        <p:spPr>
          <a:xfrm>
            <a:off x="205236" y="1604512"/>
            <a:ext cx="8695430" cy="3653287"/>
          </a:xfrm>
        </p:spPr>
        <p:txBody>
          <a:bodyPr>
            <a:normAutofit/>
          </a:bodyPr>
          <a:lstStyle/>
          <a:p>
            <a:pPr algn="l"/>
            <a:r>
              <a:rPr lang="en-US" kern="100" dirty="0">
                <a:effectLst/>
                <a:latin typeface="Calibri" panose="020F0502020204030204" pitchFamily="34" charset="0"/>
                <a:ea typeface="Calibri" panose="020F0502020204030204" pitchFamily="34" charset="0"/>
                <a:cs typeface="Times New Roman" panose="02020603050405020304" pitchFamily="18" charset="0"/>
              </a:rPr>
              <a:t>It is a comprehensive statistical analysis of key attributes, including Gross Sales, Profit, and Unit Sales, in a dataset. The analysis focuses on exploring relationships between various categorical and numerical variables. It involves descriptive statistics, probability distributions, hypothesis testing, and an exploration of data sampling techniques.</a:t>
            </a:r>
          </a:p>
          <a:p>
            <a:pPr algn="just"/>
            <a:endParaRPr lang="en-US" kern="100" dirty="0">
              <a:latin typeface="Calibri" panose="020F0502020204030204" pitchFamily="34" charset="0"/>
              <a:ea typeface="Calibri" panose="020F0502020204030204" pitchFamily="34" charset="0"/>
              <a:cs typeface="Times New Roman" panose="02020603050405020304" pitchFamily="18" charset="0"/>
            </a:endParaRPr>
          </a:p>
          <a:p>
            <a:pPr algn="just"/>
            <a:endParaRPr lang="en-IN"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AA07B395-7D03-3821-E432-23A7A66A1EA4}"/>
              </a:ext>
            </a:extLst>
          </p:cNvPr>
          <p:cNvPicPr>
            <a:picLocks noChangeAspect="1"/>
          </p:cNvPicPr>
          <p:nvPr/>
        </p:nvPicPr>
        <p:blipFill>
          <a:blip r:embed="rId2"/>
          <a:stretch>
            <a:fillRect/>
          </a:stretch>
        </p:blipFill>
        <p:spPr>
          <a:xfrm>
            <a:off x="205236" y="3644031"/>
            <a:ext cx="3607639" cy="2351956"/>
          </a:xfrm>
          <a:prstGeom prst="rect">
            <a:avLst/>
          </a:prstGeom>
        </p:spPr>
      </p:pic>
      <p:pic>
        <p:nvPicPr>
          <p:cNvPr id="2052" name="Picture 4" descr="What is Statistics? - New World : Artificial Intelligence">
            <a:extLst>
              <a:ext uri="{FF2B5EF4-FFF2-40B4-BE49-F238E27FC236}">
                <a16:creationId xmlns:a16="http://schemas.microsoft.com/office/drawing/2014/main" id="{F4EA9243-EEFE-5B9E-2BF6-BF3AE065BD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9250" y="206105"/>
            <a:ext cx="2857500" cy="16002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ow important to have knowledge on Statistics &amp; Probability to be a Data  Scientist….">
            <a:extLst>
              <a:ext uri="{FF2B5EF4-FFF2-40B4-BE49-F238E27FC236}">
                <a16:creationId xmlns:a16="http://schemas.microsoft.com/office/drawing/2014/main" id="{ADA3BE91-EDB0-8DD4-CE80-C2AA4C26A7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3958" y="3644031"/>
            <a:ext cx="3946357" cy="2359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83773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B817D-AE65-0C01-10F7-FF26C5F29867}"/>
              </a:ext>
            </a:extLst>
          </p:cNvPr>
          <p:cNvSpPr>
            <a:spLocks noGrp="1"/>
          </p:cNvSpPr>
          <p:nvPr>
            <p:ph type="ctrTitle"/>
          </p:nvPr>
        </p:nvSpPr>
        <p:spPr>
          <a:xfrm>
            <a:off x="1776729" y="4222143"/>
            <a:ext cx="8643011" cy="429370"/>
          </a:xfrm>
        </p:spPr>
        <p:txBody>
          <a:bodyPr>
            <a:normAutofit fontScale="90000"/>
          </a:bodyPr>
          <a:lstStyle/>
          <a:p>
            <a:r>
              <a:rPr lang="en-US" sz="1700" kern="100" dirty="0">
                <a:effectLst/>
                <a:latin typeface="Algerian" panose="04020705040A02060702" pitchFamily="82" charset="0"/>
                <a:ea typeface="Calibri" panose="020F0502020204030204" pitchFamily="34" charset="0"/>
                <a:cs typeface="Times New Roman" panose="02020603050405020304" pitchFamily="18" charset="0"/>
              </a:rPr>
              <a:t>Data Description</a:t>
            </a:r>
            <a:br>
              <a:rPr lang="en-IN" sz="17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sz="1700" dirty="0"/>
          </a:p>
        </p:txBody>
      </p:sp>
      <p:sp>
        <p:nvSpPr>
          <p:cNvPr id="3" name="Subtitle 2">
            <a:extLst>
              <a:ext uri="{FF2B5EF4-FFF2-40B4-BE49-F238E27FC236}">
                <a16:creationId xmlns:a16="http://schemas.microsoft.com/office/drawing/2014/main" id="{9166AB14-99FB-EDBE-2CB1-0C9F29CF4C49}"/>
              </a:ext>
            </a:extLst>
          </p:cNvPr>
          <p:cNvSpPr>
            <a:spLocks noGrp="1"/>
          </p:cNvSpPr>
          <p:nvPr>
            <p:ph type="subTitle" idx="1"/>
          </p:nvPr>
        </p:nvSpPr>
        <p:spPr>
          <a:xfrm>
            <a:off x="1776729" y="4651513"/>
            <a:ext cx="8643011" cy="822416"/>
          </a:xfrm>
        </p:spPr>
        <p:txBody>
          <a:bodyPr>
            <a:noAutofit/>
          </a:bodyPr>
          <a:lstStyle/>
          <a:p>
            <a:pPr>
              <a:lnSpc>
                <a:spcPct val="110000"/>
              </a:lnSpc>
            </a:pPr>
            <a:r>
              <a:rPr lang="en-US" sz="1200" dirty="0">
                <a:effectLst/>
                <a:latin typeface="Calibri" panose="020F0502020204030204" pitchFamily="34" charset="0"/>
                <a:ea typeface="Calibri" panose="020F0502020204030204" pitchFamily="34" charset="0"/>
                <a:cs typeface="Times New Roman" panose="02020603050405020304" pitchFamily="18" charset="0"/>
              </a:rPr>
              <a:t>The dataset used in this analysis contains information about sales data, including attributes such as 'Vehicle Type,' 'Month Name,' 'Country,' 'Segment,' 'Discount Band,' 'Sale Price,' 'Gross Sales,' 'Discounts,' 'COGS,' 'Profit,' and 'Units Sold.' We aim to provide insights and answers to various research questions through statistical techniques. </a:t>
            </a:r>
          </a:p>
          <a:p>
            <a:pPr>
              <a:lnSpc>
                <a:spcPct val="110000"/>
              </a:lnSpc>
            </a:pPr>
            <a:r>
              <a:rPr lang="en-US" sz="1200" kern="100" dirty="0">
                <a:effectLst/>
                <a:latin typeface="Calibri" panose="020F0502020204030204" pitchFamily="34" charset="0"/>
                <a:ea typeface="Calibri" panose="020F0502020204030204" pitchFamily="34" charset="0"/>
                <a:cs typeface="Times New Roman" panose="02020603050405020304" pitchFamily="18" charset="0"/>
              </a:rPr>
              <a:t>The dataset comprises [number] records and encompasses the following columns: 'Vehicle Type,' 'Month Name,' 'Country,' 'Segment,' 'Discount Band,' 'Sale Price,' 'Gross Sales,' 'Discounts,' 'COGS,' 'Profit,' and 'Units Sold.' Data preprocessing included handling missing values and ensuring data quality.</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0000"/>
              </a:lnSpc>
            </a:pPr>
            <a:endParaRPr lang="en-IN" sz="1200" dirty="0"/>
          </a:p>
        </p:txBody>
      </p:sp>
      <p:pic>
        <p:nvPicPr>
          <p:cNvPr id="3076" name="Picture 4" descr="Data - Wikipedia">
            <a:extLst>
              <a:ext uri="{FF2B5EF4-FFF2-40B4-BE49-F238E27FC236}">
                <a16:creationId xmlns:a16="http://schemas.microsoft.com/office/drawing/2014/main" id="{D7DFEEDF-8D30-40CC-8A5C-B660BDCBB6C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213515" y="643992"/>
            <a:ext cx="3357680" cy="349504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Categorical Data | Overview, Analysis &amp; Examples - Video &amp; Lesson  Transcript | Study.com">
            <a:extLst>
              <a:ext uri="{FF2B5EF4-FFF2-40B4-BE49-F238E27FC236}">
                <a16:creationId xmlns:a16="http://schemas.microsoft.com/office/drawing/2014/main" id="{A2F0F418-0B74-5080-2804-3B48FA72C4F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171060" y="1203630"/>
            <a:ext cx="4242437" cy="23757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498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D9A08-11C0-C4E5-CDCE-75346A2E38F8}"/>
              </a:ext>
            </a:extLst>
          </p:cNvPr>
          <p:cNvSpPr>
            <a:spLocks noGrp="1"/>
          </p:cNvSpPr>
          <p:nvPr>
            <p:ph type="ctrTitle"/>
          </p:nvPr>
        </p:nvSpPr>
        <p:spPr>
          <a:xfrm>
            <a:off x="1524000" y="182881"/>
            <a:ext cx="9144000" cy="1436914"/>
          </a:xfrm>
        </p:spPr>
        <p:txBody>
          <a:bodyPr>
            <a:normAutofit fontScale="90000"/>
          </a:bodyPr>
          <a:lstStyle/>
          <a:p>
            <a:r>
              <a:rPr lang="en-US" sz="4000" kern="100" dirty="0">
                <a:solidFill>
                  <a:srgbClr val="FFFF00"/>
                </a:solidFill>
                <a:effectLst/>
                <a:latin typeface="Algerian" panose="04020705040A02060702" pitchFamily="82" charset="0"/>
                <a:ea typeface="Calibri" panose="020F0502020204030204" pitchFamily="34" charset="0"/>
                <a:cs typeface="Times New Roman" panose="02020603050405020304" pitchFamily="18" charset="0"/>
              </a:rPr>
              <a:t>Descriptive Statistics</a:t>
            </a:r>
            <a:br>
              <a:rPr lang="en-IN" sz="1800" kern="1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251B4A5D-21EF-4587-D754-F136465D514C}"/>
              </a:ext>
            </a:extLst>
          </p:cNvPr>
          <p:cNvSpPr>
            <a:spLocks noGrp="1"/>
          </p:cNvSpPr>
          <p:nvPr>
            <p:ph type="subTitle" idx="1"/>
          </p:nvPr>
        </p:nvSpPr>
        <p:spPr>
          <a:xfrm>
            <a:off x="483079" y="1136470"/>
            <a:ext cx="10834777" cy="4911634"/>
          </a:xfrm>
        </p:spPr>
        <p:txBody>
          <a:bodyPr>
            <a:normAutofit lnSpcReduction="10000"/>
          </a:bodyPr>
          <a:lstStyle/>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We conducted an analysis of the following descriptive statistics:</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Mean of Units Sold: </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The average number of units sold was found to be [mean].</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Median of Units Sold</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The median number of units sold was determined to be [median].</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Mode of Units Sold</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The mode of units sold was [mode].</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Range of Units Sold</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The range of unit sales data is [range].</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Standard Deviation of Units Sold</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The standard deviation of unit sales data is approximately                     [</a:t>
            </a:r>
            <a:r>
              <a:rPr lang="en-US" sz="2000" kern="100"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standard_deviation</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Skewness of Units Sold</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The skewness of unit sales data is [skewness].</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kern="100" dirty="0">
                <a:effectLst/>
                <a:latin typeface="Calibri" panose="020F0502020204030204" pitchFamily="34" charset="0"/>
                <a:ea typeface="Calibri" panose="020F0502020204030204" pitchFamily="34" charset="0"/>
                <a:cs typeface="Times New Roman" panose="02020603050405020304" pitchFamily="18" charset="0"/>
              </a:rPr>
              <a:t>Kurtosis of Units Sold</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The kurtosis of unit sales data is [kurtosis].</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909651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FF520-5870-8567-8575-15FF4D3A073A}"/>
              </a:ext>
            </a:extLst>
          </p:cNvPr>
          <p:cNvSpPr>
            <a:spLocks noGrp="1"/>
          </p:cNvSpPr>
          <p:nvPr>
            <p:ph type="ctrTitle"/>
          </p:nvPr>
        </p:nvSpPr>
        <p:spPr>
          <a:xfrm>
            <a:off x="1524000" y="0"/>
            <a:ext cx="9144000" cy="757646"/>
          </a:xfrm>
        </p:spPr>
        <p:txBody>
          <a:bodyPr>
            <a:normAutofit/>
          </a:bodyPr>
          <a:lstStyle/>
          <a:p>
            <a:r>
              <a:rPr lang="en-US" sz="4000" dirty="0">
                <a:solidFill>
                  <a:srgbClr val="FFFF00"/>
                </a:solidFill>
                <a:latin typeface="Algerian" panose="04020705040A02060702" pitchFamily="82" charset="0"/>
              </a:rPr>
              <a:t>Findings about the Data</a:t>
            </a:r>
            <a:endParaRPr lang="en-IN" sz="4000" dirty="0">
              <a:solidFill>
                <a:srgbClr val="FFFF00"/>
              </a:solidFill>
              <a:latin typeface="Algerian" panose="04020705040A02060702" pitchFamily="82" charset="0"/>
            </a:endParaRPr>
          </a:p>
        </p:txBody>
      </p:sp>
      <p:sp>
        <p:nvSpPr>
          <p:cNvPr id="3" name="Subtitle 2">
            <a:extLst>
              <a:ext uri="{FF2B5EF4-FFF2-40B4-BE49-F238E27FC236}">
                <a16:creationId xmlns:a16="http://schemas.microsoft.com/office/drawing/2014/main" id="{DFB416E2-A573-E511-C55B-53BAD5F48E77}"/>
              </a:ext>
            </a:extLst>
          </p:cNvPr>
          <p:cNvSpPr>
            <a:spLocks noGrp="1"/>
          </p:cNvSpPr>
          <p:nvPr>
            <p:ph type="subTitle" idx="1"/>
          </p:nvPr>
        </p:nvSpPr>
        <p:spPr>
          <a:xfrm>
            <a:off x="705395" y="849087"/>
            <a:ext cx="10868296" cy="4408714"/>
          </a:xfrm>
        </p:spPr>
        <p:txBody>
          <a:bodyPr>
            <a:noAutofit/>
          </a:bodyPr>
          <a:lstStyle/>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These statistics provide insights into the distribution and characteristics of the 'Units Sold' variable.</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Gross Sales and Profit by Vehicle Type</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We compared the mean values of 'Gross Sales' and 'Profit' grouped by 'Vehicle Type' to investigate differences. The results revealed the following:</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'Sedan' vehicle type had a mean 'Gross Sales' of [</a:t>
            </a:r>
            <a:r>
              <a:rPr lang="en-US" sz="2000" kern="100"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mean_gross_sales_sedan</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'SUV' vehicle type had a mean 'Gross Sales' of [</a:t>
            </a:r>
            <a:r>
              <a:rPr lang="en-US" sz="2000" kern="100"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mean_gross_sales_suv</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'Sedan' vehicle type had a mean 'Profit' of [</a:t>
            </a:r>
            <a:r>
              <a:rPr lang="en-US" sz="2000" kern="100"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mean_profit_sedan</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	'SUV' vehicle type had a mean 'Profit' of [</a:t>
            </a:r>
            <a:r>
              <a:rPr lang="en-US" sz="2000" kern="100" dirty="0" err="1">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mean_profit_suv</a:t>
            </a: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a:p>
            <a:pPr algn="l">
              <a:lnSpc>
                <a:spcPct val="107000"/>
              </a:lnSpc>
              <a:spcAft>
                <a:spcPts val="800"/>
              </a:spcAft>
            </a:pPr>
            <a:r>
              <a:rPr lang="en-US"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These findings indicate differences in 'Gross Sales' and 'Profit' between vehicle types.</a:t>
            </a:r>
            <a:endParaRPr lang="en-IN" sz="2000" kern="100"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23190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589DC-9EFC-2795-8D9D-4FD0FB5AC9E1}"/>
              </a:ext>
            </a:extLst>
          </p:cNvPr>
          <p:cNvSpPr>
            <a:spLocks noGrp="1"/>
          </p:cNvSpPr>
          <p:nvPr>
            <p:ph type="ctrTitle"/>
          </p:nvPr>
        </p:nvSpPr>
        <p:spPr>
          <a:xfrm>
            <a:off x="261258" y="156755"/>
            <a:ext cx="8321040" cy="1214845"/>
          </a:xfrm>
        </p:spPr>
        <p:txBody>
          <a:bodyPr>
            <a:normAutofit fontScale="90000"/>
          </a:bodyPr>
          <a:lstStyle/>
          <a:p>
            <a:r>
              <a:rPr lang="en-US" sz="4400" dirty="0">
                <a:latin typeface="Algerian" panose="04020705040A02060702" pitchFamily="82" charset="0"/>
              </a:rPr>
              <a:t>Sampling Techniques and Hypothesis Testing</a:t>
            </a:r>
            <a:endParaRPr lang="en-IN" sz="4400" dirty="0">
              <a:latin typeface="Algerian" panose="04020705040A02060702" pitchFamily="82" charset="0"/>
            </a:endParaRPr>
          </a:p>
        </p:txBody>
      </p:sp>
      <p:sp>
        <p:nvSpPr>
          <p:cNvPr id="3" name="Subtitle 2">
            <a:extLst>
              <a:ext uri="{FF2B5EF4-FFF2-40B4-BE49-F238E27FC236}">
                <a16:creationId xmlns:a16="http://schemas.microsoft.com/office/drawing/2014/main" id="{7DC79ACE-542D-3233-AB91-CDD0BC549653}"/>
              </a:ext>
            </a:extLst>
          </p:cNvPr>
          <p:cNvSpPr>
            <a:spLocks noGrp="1"/>
          </p:cNvSpPr>
          <p:nvPr>
            <p:ph type="subTitle" idx="1"/>
          </p:nvPr>
        </p:nvSpPr>
        <p:spPr>
          <a:xfrm>
            <a:off x="261258" y="1371601"/>
            <a:ext cx="8786504" cy="3108959"/>
          </a:xfrm>
        </p:spPr>
        <p:txBody>
          <a:bodyPr>
            <a:normAutofit lnSpcReduction="10000"/>
          </a:bodyPr>
          <a:lstStyle/>
          <a:p>
            <a:pPr>
              <a:lnSpc>
                <a:spcPct val="107000"/>
              </a:lnSpc>
              <a:spcAft>
                <a:spcPts val="800"/>
              </a:spcAft>
            </a:pPr>
            <a:r>
              <a:rPr lang="en-US" kern="1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We discussed data sampling techniques used in the dataset and outlined the data collection process. Additionally, we demonstrated the process of creating a random sample and compared sample statistics with population parameters.</a:t>
            </a:r>
          </a:p>
          <a:p>
            <a:pPr>
              <a:lnSpc>
                <a:spcPct val="107000"/>
              </a:lnSpc>
              <a:spcAft>
                <a:spcPts val="800"/>
              </a:spcAft>
            </a:pPr>
            <a:r>
              <a:rPr lang="en-US" kern="1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rPr>
              <a:t>We performed hypothesis testing to determine if there is a significant difference in the mean 'Gross Sales' between 'Sedan' and 'SUV' vehicle types. The results indicated that we [rejected/fail to reject] the null hypothesis. Further, confidence intervals were calculated to assess the range of values for both vehicle types.</a:t>
            </a:r>
            <a:endParaRPr lang="en-IN" kern="100" dirty="0">
              <a:solidFill>
                <a:srgbClr val="FFFF00"/>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098" name="Picture 2" descr="The ultimate guide to correctly calculating A/B testing sample size and test  duration">
            <a:extLst>
              <a:ext uri="{FF2B5EF4-FFF2-40B4-BE49-F238E27FC236}">
                <a16:creationId xmlns:a16="http://schemas.microsoft.com/office/drawing/2014/main" id="{EE07E638-B964-D68F-C787-C272F83AE6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01150" y="0"/>
            <a:ext cx="2933700" cy="195553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he Basics of Hypothesis Testing. Hypothesis testing is a statistical… | by  Excelsior | Medium">
            <a:extLst>
              <a:ext uri="{FF2B5EF4-FFF2-40B4-BE49-F238E27FC236}">
                <a16:creationId xmlns:a16="http://schemas.microsoft.com/office/drawing/2014/main" id="{3D2E6D8E-631E-5381-B18A-A28682FAB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870" y="4480560"/>
            <a:ext cx="2847975" cy="16002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ypothesis to Be Tested: Definition and 4 Steps for Testing with Example">
            <a:extLst>
              <a:ext uri="{FF2B5EF4-FFF2-40B4-BE49-F238E27FC236}">
                <a16:creationId xmlns:a16="http://schemas.microsoft.com/office/drawing/2014/main" id="{B260B848-2841-0D10-C3D9-D1C6A65F85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01150" y="4337685"/>
            <a:ext cx="2619375" cy="174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1551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C2CC1-DE20-1AED-E67B-005B411B3513}"/>
              </a:ext>
            </a:extLst>
          </p:cNvPr>
          <p:cNvSpPr>
            <a:spLocks noGrp="1"/>
          </p:cNvSpPr>
          <p:nvPr>
            <p:ph type="ctrTitle"/>
          </p:nvPr>
        </p:nvSpPr>
        <p:spPr>
          <a:xfrm>
            <a:off x="1524000" y="242468"/>
            <a:ext cx="9144000" cy="867875"/>
          </a:xfrm>
        </p:spPr>
        <p:txBody>
          <a:bodyPr>
            <a:normAutofit/>
          </a:bodyPr>
          <a:lstStyle/>
          <a:p>
            <a:r>
              <a:rPr lang="en-US" sz="4800" dirty="0">
                <a:solidFill>
                  <a:srgbClr val="FFFF00"/>
                </a:solidFill>
                <a:latin typeface="Algerian" panose="04020705040A02060702" pitchFamily="82" charset="0"/>
              </a:rPr>
              <a:t>Results and conclusions</a:t>
            </a:r>
            <a:endParaRPr lang="en-IN" sz="4800" dirty="0">
              <a:solidFill>
                <a:srgbClr val="FFFF00"/>
              </a:solidFill>
              <a:latin typeface="Algerian" panose="04020705040A02060702" pitchFamily="82" charset="0"/>
            </a:endParaRPr>
          </a:p>
        </p:txBody>
      </p:sp>
      <p:sp>
        <p:nvSpPr>
          <p:cNvPr id="3" name="Subtitle 2">
            <a:extLst>
              <a:ext uri="{FF2B5EF4-FFF2-40B4-BE49-F238E27FC236}">
                <a16:creationId xmlns:a16="http://schemas.microsoft.com/office/drawing/2014/main" id="{323D662F-CD0D-FC00-9B87-4BEBE0B48734}"/>
              </a:ext>
            </a:extLst>
          </p:cNvPr>
          <p:cNvSpPr>
            <a:spLocks noGrp="1"/>
          </p:cNvSpPr>
          <p:nvPr>
            <p:ph type="subTitle" idx="1"/>
          </p:nvPr>
        </p:nvSpPr>
        <p:spPr>
          <a:xfrm>
            <a:off x="1524000" y="1332412"/>
            <a:ext cx="9144000" cy="4480560"/>
          </a:xfrm>
        </p:spPr>
        <p:txBody>
          <a:bodyPr>
            <a:normAutofit lnSpcReduction="10000"/>
          </a:bodyPr>
          <a:lstStyle/>
          <a:p>
            <a:pPr algn="l"/>
            <a:r>
              <a:rPr lang="en-US" sz="2800" dirty="0">
                <a:effectLst/>
                <a:latin typeface="Calibri" panose="020F0502020204030204" pitchFamily="34" charset="0"/>
                <a:ea typeface="Calibri" panose="020F0502020204030204" pitchFamily="34" charset="0"/>
                <a:cs typeface="Times New Roman" panose="02020603050405020304" pitchFamily="18" charset="0"/>
              </a:rPr>
              <a:t>We utilized probability distributions to analyze :</a:t>
            </a:r>
          </a:p>
          <a:p>
            <a:pPr marL="457200" indent="-457200" algn="l">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Probability of Unit Sales Above a Threshold</a:t>
            </a:r>
          </a:p>
          <a:p>
            <a:pPr marL="457200" indent="-457200" algn="l">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Probability of Unit Sales Above a Threshold by Segment</a:t>
            </a:r>
          </a:p>
          <a:p>
            <a:pPr marL="457200" indent="-457200" algn="l">
              <a:buFont typeface="Arial" panose="020B0604020202020204" pitchFamily="34" charset="0"/>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Probability of Profit Above a Threshold</a:t>
            </a:r>
          </a:p>
          <a:p>
            <a:pPr algn="l"/>
            <a:endParaRPr lang="en-US" kern="100" dirty="0">
              <a:solidFill>
                <a:srgbClr val="FFC000"/>
              </a:solidFill>
              <a:effectLst/>
              <a:latin typeface="Bodoni MT" panose="02070603080606020203" pitchFamily="18" charset="0"/>
              <a:ea typeface="Calibri" panose="020F0502020204030204" pitchFamily="34" charset="0"/>
              <a:cs typeface="Times New Roman" panose="02020603050405020304" pitchFamily="18" charset="0"/>
            </a:endParaRPr>
          </a:p>
          <a:p>
            <a:pPr algn="l"/>
            <a:r>
              <a:rPr lang="en-US" kern="100" dirty="0">
                <a:solidFill>
                  <a:srgbClr val="FFC000"/>
                </a:solidFill>
                <a:effectLst/>
                <a:latin typeface="Bodoni MT" panose="02070603080606020203" pitchFamily="18" charset="0"/>
                <a:ea typeface="Calibri" panose="020F0502020204030204" pitchFamily="34" charset="0"/>
                <a:cs typeface="Times New Roman" panose="02020603050405020304" pitchFamily="18" charset="0"/>
              </a:rPr>
              <a:t>In conclusion, this analysis provides valuable insights into the relationships between 'Gross Sales,' 'Profit,' and 'Unit Sales' in the dataset. Differences by vehicle type, month, and the probability of exceeding certain thresholds were examined. The findings can inform decision-making processes and guide strategies in relevant industries.</a:t>
            </a:r>
            <a:endParaRPr lang="en-IN" kern="100" dirty="0">
              <a:solidFill>
                <a:srgbClr val="FFC000"/>
              </a:solidFill>
              <a:effectLst/>
              <a:latin typeface="Bodoni MT" panose="02070603080606020203" pitchFamily="18" charset="0"/>
              <a:ea typeface="Calibri" panose="020F0502020204030204" pitchFamily="34" charset="0"/>
              <a:cs typeface="Times New Roman" panose="02020603050405020304" pitchFamily="18" charset="0"/>
            </a:endParaRPr>
          </a:p>
          <a:p>
            <a:pPr algn="l"/>
            <a:endParaRPr lang="en-IN" dirty="0"/>
          </a:p>
        </p:txBody>
      </p:sp>
    </p:spTree>
    <p:extLst>
      <p:ext uri="{BB962C8B-B14F-4D97-AF65-F5344CB8AC3E}">
        <p14:creationId xmlns:p14="http://schemas.microsoft.com/office/powerpoint/2010/main" val="3228786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2F7158-D558-5366-A2E4-428EBF2EF324}"/>
              </a:ext>
            </a:extLst>
          </p:cNvPr>
          <p:cNvSpPr>
            <a:spLocks noGrp="1"/>
          </p:cNvSpPr>
          <p:nvPr>
            <p:ph type="title"/>
          </p:nvPr>
        </p:nvSpPr>
        <p:spPr>
          <a:xfrm>
            <a:off x="2114910" y="2953050"/>
            <a:ext cx="10515600" cy="1325563"/>
          </a:xfrm>
        </p:spPr>
        <p:txBody>
          <a:bodyPr>
            <a:noAutofit/>
          </a:bodyPr>
          <a:lstStyle/>
          <a:p>
            <a:r>
              <a:rPr lang="en-US" sz="9600" dirty="0">
                <a:solidFill>
                  <a:srgbClr val="FFFF00"/>
                </a:solidFill>
                <a:latin typeface="Algerian" panose="04020705040A02060702" pitchFamily="82" charset="0"/>
              </a:rPr>
              <a:t>THANK YOU</a:t>
            </a:r>
            <a:endParaRPr lang="en-IN" sz="9600" dirty="0">
              <a:solidFill>
                <a:srgbClr val="FFFF00"/>
              </a:solidFill>
              <a:latin typeface="Algerian" panose="04020705040A02060702" pitchFamily="82" charset="0"/>
            </a:endParaRPr>
          </a:p>
        </p:txBody>
      </p:sp>
    </p:spTree>
    <p:extLst>
      <p:ext uri="{BB962C8B-B14F-4D97-AF65-F5344CB8AC3E}">
        <p14:creationId xmlns:p14="http://schemas.microsoft.com/office/powerpoint/2010/main" val="195515019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102</TotalTime>
  <Words>785</Words>
  <Application>Microsoft Office PowerPoint</Application>
  <PresentationFormat>Widescreen</PresentationFormat>
  <Paragraphs>49</Paragraphs>
  <Slides>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Abadi</vt:lpstr>
      <vt:lpstr>Algerian</vt:lpstr>
      <vt:lpstr>Amasis MT Pro Black</vt:lpstr>
      <vt:lpstr>Arial</vt:lpstr>
      <vt:lpstr>Bodoni MT</vt:lpstr>
      <vt:lpstr>Calibri</vt:lpstr>
      <vt:lpstr>Google Sans</vt:lpstr>
      <vt:lpstr>Rockwell</vt:lpstr>
      <vt:lpstr>Gallery</vt:lpstr>
      <vt:lpstr>PowerPoint Presentation</vt:lpstr>
      <vt:lpstr>Data Sampling</vt:lpstr>
      <vt:lpstr>INTRODUCTION</vt:lpstr>
      <vt:lpstr>Data Description </vt:lpstr>
      <vt:lpstr>Descriptive Statistics </vt:lpstr>
      <vt:lpstr>Findings about the Data</vt:lpstr>
      <vt:lpstr>Sampling Techniques and Hypothesis Testing</vt:lpstr>
      <vt:lpstr>Results and conclusions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Priyanka</dc:creator>
  <cp:lastModifiedBy>Abhinav Singh</cp:lastModifiedBy>
  <cp:revision>2</cp:revision>
  <dcterms:created xsi:type="dcterms:W3CDTF">2023-11-06T15:33:18Z</dcterms:created>
  <dcterms:modified xsi:type="dcterms:W3CDTF">2023-11-09T17:46:10Z</dcterms:modified>
</cp:coreProperties>
</file>